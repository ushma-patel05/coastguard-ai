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7"/>
  </p:notesMasterIdLst>
  <p:sldIdLst>
    <p:sldId id="283" r:id="rId2"/>
    <p:sldId id="257" r:id="rId3"/>
    <p:sldId id="282" r:id="rId4"/>
    <p:sldId id="290" r:id="rId5"/>
    <p:sldId id="285" r:id="rId6"/>
    <p:sldId id="291" r:id="rId7"/>
    <p:sldId id="278" r:id="rId8"/>
    <p:sldId id="292" r:id="rId9"/>
    <p:sldId id="279" r:id="rId10"/>
    <p:sldId id="264" r:id="rId11"/>
    <p:sldId id="286" r:id="rId12"/>
    <p:sldId id="280" r:id="rId13"/>
    <p:sldId id="288" r:id="rId14"/>
    <p:sldId id="293"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varScale="1">
        <p:scale>
          <a:sx n="69" d="100"/>
          <a:sy n="69" d="100"/>
        </p:scale>
        <p:origin x="4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24091677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4291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991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9705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592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8755073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4714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01068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61539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9539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44093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12355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99502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72782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371190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6426352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6704901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550342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3310371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41949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27095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416524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hyperlink" Target="mailto:ushma.sp@gmail.com" TargetMode="External"/><Relationship Id="rId7"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mailto:parekhesha489@gmail.com" TargetMode="External"/><Relationship Id="rId4" Type="http://schemas.openxmlformats.org/officeDocument/2006/relationships/hyperlink" Target="mailto:khpancholi29@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a:xfrm>
            <a:off x="1129619" y="2990372"/>
            <a:ext cx="8596668" cy="1826581"/>
          </a:xfrm>
        </p:spPr>
        <p:txBody>
          <a:bodyPr>
            <a:normAutofit fontScale="90000"/>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434627" y="433628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392365"/>
            <a:ext cx="7426406" cy="16067"/>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i="0" u="none" strike="noStrike">
              <a:ln w="0"/>
              <a:solidFill>
                <a:schemeClr val="tx1"/>
              </a:solidFill>
              <a:effectLst>
                <a:outerShdw blurRad="38100" dist="19050" dir="2700000" algn="tl" rotWithShape="0">
                  <a:schemeClr val="dk1">
                    <a:alpha val="40000"/>
                  </a:schemeClr>
                </a:outerShdw>
              </a:effectLst>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76093219"/>
              </p:ext>
            </p:extLst>
          </p:nvPr>
        </p:nvGraphicFramePr>
        <p:xfrm>
          <a:off x="690624" y="2223361"/>
          <a:ext cx="8885995" cy="4364251"/>
        </p:xfrm>
        <a:graphic>
          <a:graphicData uri="http://schemas.openxmlformats.org/drawingml/2006/table">
            <a:tbl>
              <a:tblPr>
                <a:noFill/>
                <a:tableStyleId>{0AAD8F4D-43EB-41E5-8A38-28AB6DFB1B60}</a:tableStyleId>
              </a:tblPr>
              <a:tblGrid>
                <a:gridCol w="2278718">
                  <a:extLst>
                    <a:ext uri="{9D8B030D-6E8A-4147-A177-3AD203B41FA5}">
                      <a16:colId xmlns="" xmlns:a16="http://schemas.microsoft.com/office/drawing/2014/main" val="20000"/>
                    </a:ext>
                  </a:extLst>
                </a:gridCol>
                <a:gridCol w="1966452">
                  <a:extLst>
                    <a:ext uri="{9D8B030D-6E8A-4147-A177-3AD203B41FA5}">
                      <a16:colId xmlns="" xmlns:a16="http://schemas.microsoft.com/office/drawing/2014/main" val="20002"/>
                    </a:ext>
                  </a:extLst>
                </a:gridCol>
                <a:gridCol w="3072133">
                  <a:extLst>
                    <a:ext uri="{9D8B030D-6E8A-4147-A177-3AD203B41FA5}">
                      <a16:colId xmlns="" xmlns:a16="http://schemas.microsoft.com/office/drawing/2014/main" val="20003"/>
                    </a:ext>
                  </a:extLst>
                </a:gridCol>
                <a:gridCol w="1568692">
                  <a:extLst>
                    <a:ext uri="{9D8B030D-6E8A-4147-A177-3AD203B41FA5}">
                      <a16:colId xmlns="" xmlns:a16="http://schemas.microsoft.com/office/drawing/2014/main" val="20004"/>
                    </a:ext>
                  </a:extLst>
                </a:gridCol>
              </a:tblGrid>
              <a:tr h="1005634">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a:t>
                      </a:r>
                      <a:r>
                        <a:rPr lang="en-US" sz="1800" u="none" strike="noStrike" cap="none" dirty="0" smtClean="0"/>
                        <a:t>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3358617">
                <a:tc>
                  <a:txBody>
                    <a:bodyPr/>
                    <a:lstStyle/>
                    <a:p>
                      <a:pPr marL="342900" marR="0" lvl="0" indent="-342900" algn="l" rtl="0">
                        <a:spcBef>
                          <a:spcPts val="0"/>
                        </a:spcBef>
                        <a:spcAft>
                          <a:spcPts val="0"/>
                        </a:spcAft>
                        <a:buAutoNum type="arabicPeriod"/>
                      </a:pPr>
                      <a:r>
                        <a:rPr lang="en-US" dirty="0" err="1" smtClean="0"/>
                        <a:t>Ushma</a:t>
                      </a:r>
                      <a:r>
                        <a:rPr lang="en-US" dirty="0" smtClean="0"/>
                        <a:t> Patel</a:t>
                      </a:r>
                    </a:p>
                    <a:p>
                      <a:pPr marL="342900" marR="0" lvl="0" indent="-342900" algn="l" rtl="0">
                        <a:spcBef>
                          <a:spcPts val="0"/>
                        </a:spcBef>
                        <a:spcAft>
                          <a:spcPts val="0"/>
                        </a:spcAft>
                        <a:buAutoNum type="arabicPeriod"/>
                      </a:pPr>
                      <a:endParaRPr lang="en-US" dirty="0" smtClean="0"/>
                    </a:p>
                    <a:p>
                      <a:pPr marL="342900" marR="0" lvl="0" indent="-342900" algn="l" rtl="0">
                        <a:spcBef>
                          <a:spcPts val="0"/>
                        </a:spcBef>
                        <a:spcAft>
                          <a:spcPts val="0"/>
                        </a:spcAft>
                        <a:buAutoNum type="arabicPeriod"/>
                      </a:pPr>
                      <a:endParaRPr lang="en-US" dirty="0" smtClean="0"/>
                    </a:p>
                    <a:p>
                      <a:pPr marL="342900" marR="0" lvl="0" indent="-342900" algn="l" rtl="0">
                        <a:spcBef>
                          <a:spcPts val="0"/>
                        </a:spcBef>
                        <a:spcAft>
                          <a:spcPts val="0"/>
                        </a:spcAft>
                        <a:buAutoNum type="arabicPeriod"/>
                      </a:pPr>
                      <a:endParaRPr lang="en-US" dirty="0" smtClean="0"/>
                    </a:p>
                    <a:p>
                      <a:pPr marL="342900" marR="0" lvl="0" indent="-342900" algn="l" rtl="0">
                        <a:spcBef>
                          <a:spcPts val="0"/>
                        </a:spcBef>
                        <a:spcAft>
                          <a:spcPts val="0"/>
                        </a:spcAft>
                        <a:buAutoNum type="arabicPeriod"/>
                      </a:pPr>
                      <a:r>
                        <a:rPr lang="en-US" dirty="0" err="1" smtClean="0"/>
                        <a:t>Khushi</a:t>
                      </a:r>
                      <a:r>
                        <a:rPr lang="en-US" dirty="0" smtClean="0"/>
                        <a:t> </a:t>
                      </a:r>
                      <a:r>
                        <a:rPr lang="en-US" dirty="0" err="1" smtClean="0"/>
                        <a:t>Pancholi</a:t>
                      </a:r>
                      <a:endParaRPr lang="en-US" dirty="0" smtClean="0"/>
                    </a:p>
                    <a:p>
                      <a:pPr marL="342900" marR="0" lvl="0" indent="-342900" algn="l" rtl="0">
                        <a:spcBef>
                          <a:spcPts val="0"/>
                        </a:spcBef>
                        <a:spcAft>
                          <a:spcPts val="0"/>
                        </a:spcAft>
                        <a:buAutoNum type="arabicPeriod"/>
                      </a:pPr>
                      <a:endParaRPr lang="en-US" dirty="0" smtClean="0"/>
                    </a:p>
                    <a:p>
                      <a:pPr marL="342900" marR="0" lvl="0" indent="-342900" algn="l" rtl="0">
                        <a:spcBef>
                          <a:spcPts val="0"/>
                        </a:spcBef>
                        <a:spcAft>
                          <a:spcPts val="0"/>
                        </a:spcAft>
                        <a:buAutoNum type="arabicPeriod"/>
                      </a:pPr>
                      <a:endParaRPr lang="en-US" dirty="0" smtClean="0"/>
                    </a:p>
                    <a:p>
                      <a:pPr marL="342900" marR="0" lvl="0" indent="-342900" algn="l" rtl="0">
                        <a:spcBef>
                          <a:spcPts val="0"/>
                        </a:spcBef>
                        <a:spcAft>
                          <a:spcPts val="0"/>
                        </a:spcAft>
                        <a:buAutoNum type="arabicPeriod"/>
                      </a:pPr>
                      <a:endParaRPr lang="en-US" dirty="0" smtClean="0"/>
                    </a:p>
                    <a:p>
                      <a:pPr marL="342900" marR="0" lvl="0" indent="-342900" algn="l" rtl="0">
                        <a:spcBef>
                          <a:spcPts val="0"/>
                        </a:spcBef>
                        <a:spcAft>
                          <a:spcPts val="0"/>
                        </a:spcAft>
                        <a:buAutoNum type="arabicPeriod"/>
                      </a:pPr>
                      <a:r>
                        <a:rPr lang="en-US" dirty="0" err="1" smtClean="0"/>
                        <a:t>Esha</a:t>
                      </a:r>
                      <a:r>
                        <a:rPr lang="en-US" baseline="0" dirty="0" smtClean="0"/>
                        <a:t> Parekh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hlinkClick r:id="rId3"/>
                        </a:rPr>
                        <a:t>ushma.sp@gmail.com</a:t>
                      </a:r>
                    </a:p>
                    <a:p>
                      <a:pPr marL="0" marR="0" lvl="0" indent="0" algn="l" rtl="0">
                        <a:spcBef>
                          <a:spcPts val="0"/>
                        </a:spcBef>
                        <a:spcAft>
                          <a:spcPts val="0"/>
                        </a:spcAft>
                        <a:buNone/>
                      </a:pPr>
                      <a:endParaRPr lang="en-US" dirty="0" smtClean="0">
                        <a:hlinkClick r:id="rId3"/>
                      </a:endParaRPr>
                    </a:p>
                    <a:p>
                      <a:pPr marL="0" marR="0" lvl="0" indent="0" algn="l" rtl="0">
                        <a:spcBef>
                          <a:spcPts val="0"/>
                        </a:spcBef>
                        <a:spcAft>
                          <a:spcPts val="0"/>
                        </a:spcAft>
                        <a:buNone/>
                      </a:pPr>
                      <a:endParaRPr lang="en-US" dirty="0" smtClean="0">
                        <a:hlinkClick r:id="rId3"/>
                      </a:endParaRPr>
                    </a:p>
                    <a:p>
                      <a:pPr marL="0" marR="0" lvl="0" indent="0" algn="l" rtl="0">
                        <a:spcBef>
                          <a:spcPts val="0"/>
                        </a:spcBef>
                        <a:spcAft>
                          <a:spcPts val="0"/>
                        </a:spcAft>
                        <a:buNone/>
                      </a:pPr>
                      <a:endParaRPr lang="en-US" dirty="0" smtClean="0">
                        <a:hlinkClick r:id="rId3"/>
                      </a:endParaRPr>
                    </a:p>
                    <a:p>
                      <a:pPr marL="0" marR="0" lvl="0" indent="0" algn="l" rtl="0">
                        <a:spcBef>
                          <a:spcPts val="0"/>
                        </a:spcBef>
                        <a:spcAft>
                          <a:spcPts val="0"/>
                        </a:spcAft>
                        <a:buNone/>
                      </a:pPr>
                      <a:r>
                        <a:rPr lang="en-US" dirty="0" smtClean="0">
                          <a:hlinkClick r:id="rId4"/>
                        </a:rPr>
                        <a:t>khpancholi29@gmail.com</a:t>
                      </a:r>
                    </a:p>
                    <a:p>
                      <a:pPr marL="0" marR="0" lvl="0" indent="0" algn="l" rtl="0">
                        <a:spcBef>
                          <a:spcPts val="0"/>
                        </a:spcBef>
                        <a:spcAft>
                          <a:spcPts val="0"/>
                        </a:spcAft>
                        <a:buNone/>
                      </a:pPr>
                      <a:endParaRPr lang="en-US" dirty="0" smtClean="0">
                        <a:hlinkClick r:id="rId4"/>
                      </a:endParaRPr>
                    </a:p>
                    <a:p>
                      <a:pPr marL="0" marR="0" lvl="0" indent="0" algn="l" rtl="0">
                        <a:spcBef>
                          <a:spcPts val="0"/>
                        </a:spcBef>
                        <a:spcAft>
                          <a:spcPts val="0"/>
                        </a:spcAft>
                        <a:buNone/>
                      </a:pPr>
                      <a:endParaRPr lang="en-US" dirty="0" smtClean="0">
                        <a:hlinkClick r:id="rId4"/>
                      </a:endParaRPr>
                    </a:p>
                    <a:p>
                      <a:pPr marL="0" marR="0" lvl="0" indent="0" algn="l" rtl="0">
                        <a:spcBef>
                          <a:spcPts val="0"/>
                        </a:spcBef>
                        <a:spcAft>
                          <a:spcPts val="0"/>
                        </a:spcAft>
                        <a:buNone/>
                      </a:pPr>
                      <a:endParaRPr lang="en-US" dirty="0" smtClean="0">
                        <a:hlinkClick r:id="rId4"/>
                      </a:endParaRPr>
                    </a:p>
                    <a:p>
                      <a:pPr marL="0" marR="0" lvl="0" indent="0" algn="l" rtl="0">
                        <a:spcBef>
                          <a:spcPts val="0"/>
                        </a:spcBef>
                        <a:spcAft>
                          <a:spcPts val="0"/>
                        </a:spcAft>
                        <a:buNone/>
                      </a:pPr>
                      <a:r>
                        <a:rPr lang="en-US" dirty="0" smtClean="0">
                          <a:hlinkClick r:id="rId5"/>
                        </a:rPr>
                        <a:t>parekhesha489@gmail.com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8160929028</a:t>
                      </a:r>
                    </a:p>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r>
                        <a:rPr lang="en-US" dirty="0" smtClean="0"/>
                        <a:t>9429673141</a:t>
                      </a:r>
                    </a:p>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r>
                        <a:rPr lang="en-US" dirty="0" smtClean="0"/>
                        <a:t>9316178547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690624" y="1601108"/>
            <a:ext cx="10280254" cy="523220"/>
          </a:xfrm>
          <a:prstGeom prst="rect">
            <a:avLst/>
          </a:prstGeom>
          <a:noFill/>
        </p:spPr>
        <p:txBody>
          <a:bodyPr wrap="square" rtlCol="0">
            <a:spAutoFit/>
          </a:bodyPr>
          <a:lstStyle/>
          <a:p>
            <a:r>
              <a:rPr lang="en-US" sz="2800" b="1" dirty="0">
                <a:ln w="0"/>
                <a:solidFill>
                  <a:schemeClr val="tx1"/>
                </a:solidFill>
                <a:effectLst>
                  <a:outerShdw blurRad="38100" dist="19050" dir="2700000" algn="tl" rotWithShape="0">
                    <a:schemeClr val="dk1">
                      <a:alpha val="40000"/>
                    </a:schemeClr>
                  </a:outerShdw>
                </a:effectLst>
              </a:rPr>
              <a:t>Domain of  Project </a:t>
            </a:r>
            <a:r>
              <a:rPr lang="en-US" sz="2400" dirty="0" smtClean="0">
                <a:ln w="0"/>
                <a:solidFill>
                  <a:schemeClr val="tx1"/>
                </a:solidFill>
                <a:effectLst>
                  <a:outerShdw blurRad="38100" dist="19050" dir="2700000" algn="tl" rotWithShape="0">
                    <a:schemeClr val="dk1">
                      <a:alpha val="40000"/>
                    </a:schemeClr>
                  </a:outerShdw>
                </a:effectLst>
              </a:rPr>
              <a:t>– </a:t>
            </a:r>
            <a:r>
              <a:rPr lang="en-US" sz="2000" smtClean="0">
                <a:ln w="0"/>
                <a:solidFill>
                  <a:schemeClr val="tx1"/>
                </a:solidFill>
                <a:effectLst>
                  <a:outerShdw blurRad="38100" dist="19050" dir="2700000" algn="tl" rotWithShape="0">
                    <a:schemeClr val="dk1">
                      <a:alpha val="40000"/>
                    </a:schemeClr>
                  </a:outerShdw>
                </a:effectLst>
              </a:rPr>
              <a:t>Disaster Management</a:t>
            </a:r>
            <a:endParaRPr lang="en-IN" sz="2400" dirty="0">
              <a:ln w="0"/>
              <a:solidFill>
                <a:schemeClr val="tx1"/>
              </a:solidFill>
              <a:effectLst>
                <a:outerShdw blurRad="38100" dist="19050" dir="2700000" algn="tl" rotWithShape="0">
                  <a:schemeClr val="dk1">
                    <a:alpha val="40000"/>
                  </a:schemeClr>
                </a:outerShdw>
              </a:effectLst>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690624" y="729731"/>
            <a:ext cx="9581177" cy="830997"/>
          </a:xfrm>
          <a:prstGeom prst="rect">
            <a:avLst/>
          </a:prstGeom>
          <a:noFill/>
          <a:ln>
            <a:noFill/>
          </a:ln>
        </p:spPr>
        <p:txBody>
          <a:bodyPr wrap="square" rtlCol="0">
            <a:spAutoFit/>
          </a:bodyPr>
          <a:lstStyle/>
          <a:p>
            <a:r>
              <a:rPr lang="en-US" sz="2800" b="1" dirty="0">
                <a:ln w="0"/>
                <a:solidFill>
                  <a:schemeClr val="tx1"/>
                </a:solidFill>
                <a:effectLst>
                  <a:outerShdw blurRad="38100" dist="38100" dir="2700000" algn="tl">
                    <a:srgbClr val="000000">
                      <a:alpha val="43137"/>
                    </a:srgbClr>
                  </a:outerShdw>
                </a:effectLst>
              </a:rPr>
              <a:t>Project Title </a:t>
            </a:r>
            <a:r>
              <a:rPr lang="en-US" sz="2400" dirty="0">
                <a:ln w="0"/>
                <a:solidFill>
                  <a:schemeClr val="tx1"/>
                </a:solidFill>
              </a:rPr>
              <a:t>– </a:t>
            </a:r>
            <a:r>
              <a:rPr lang="en-US" sz="2000" dirty="0" smtClean="0">
                <a:ln w="0"/>
                <a:solidFill>
                  <a:schemeClr val="tx1"/>
                </a:solidFill>
              </a:rPr>
              <a:t>AI Driven Cyclone and Coaster Disaster Early Warning Prediction System </a:t>
            </a:r>
            <a:endParaRPr lang="en-IN" sz="2400" dirty="0">
              <a:ln w="0"/>
              <a:solidFill>
                <a:schemeClr val="tx1"/>
              </a:solidFill>
              <a:highlight>
                <a:srgbClr val="FFFF00"/>
              </a:highlight>
            </a:endParaRPr>
          </a:p>
        </p:txBody>
      </p:sp>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41290" y="4425370"/>
            <a:ext cx="862220" cy="878241"/>
          </a:xfrm>
          <a:prstGeom prst="rect">
            <a:avLst/>
          </a:prstGeom>
        </p:spPr>
      </p:pic>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41290" y="3324425"/>
            <a:ext cx="862220" cy="954218"/>
          </a:xfrm>
          <a:prstGeom prst="rect">
            <a:avLst/>
          </a:prstGeom>
        </p:spPr>
      </p:pic>
      <p:pic>
        <p:nvPicPr>
          <p:cNvPr id="3" name="Picture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41290" y="5450337"/>
            <a:ext cx="903478" cy="112934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1" y="1381925"/>
            <a:ext cx="10607040" cy="5324535"/>
          </a:xfrm>
          <a:prstGeom prst="rect">
            <a:avLst/>
          </a:prstGeom>
          <a:noFill/>
        </p:spPr>
        <p:txBody>
          <a:bodyPr wrap="square" rtlCol="0">
            <a:spAutoFit/>
          </a:bodyPr>
          <a:lstStyle/>
          <a:p>
            <a:pPr fontAlgn="base"/>
            <a:endParaRPr lang="en-US" sz="2000" b="1" dirty="0"/>
          </a:p>
          <a:p>
            <a:pPr fontAlgn="base"/>
            <a:r>
              <a:rPr lang="en-US" sz="2000" b="1" dirty="0"/>
              <a:t>The Challenge</a:t>
            </a:r>
            <a:r>
              <a:rPr lang="en-US" sz="2000" dirty="0"/>
              <a:t> </a:t>
            </a:r>
          </a:p>
          <a:p>
            <a:pPr fontAlgn="base"/>
            <a:r>
              <a:rPr lang="en-US" sz="2000" dirty="0"/>
              <a:t>Gujarat’s 1,600+ km coastline is highly vulnerable to cyclones (e.g., </a:t>
            </a:r>
            <a:r>
              <a:rPr lang="en-US" sz="2000" dirty="0" err="1"/>
              <a:t>Tauktae</a:t>
            </a:r>
            <a:r>
              <a:rPr lang="en-US" sz="2000" dirty="0"/>
              <a:t>, </a:t>
            </a:r>
            <a:r>
              <a:rPr lang="en-US" sz="2000" dirty="0" err="1"/>
              <a:t>Biparjoy</a:t>
            </a:r>
            <a:r>
              <a:rPr lang="en-US" sz="2000" dirty="0"/>
              <a:t>), yet coastal communities and fishermen often receive </a:t>
            </a:r>
            <a:r>
              <a:rPr lang="en-US" sz="2000" b="1" dirty="0"/>
              <a:t>delayed or generalized warnings</a:t>
            </a:r>
            <a:r>
              <a:rPr lang="en-US" sz="2000" dirty="0"/>
              <a:t>, leading to </a:t>
            </a:r>
            <a:r>
              <a:rPr lang="en-US" sz="2000" b="1" dirty="0"/>
              <a:t>preventable loss of life, boats, and property</a:t>
            </a:r>
            <a:r>
              <a:rPr lang="en-US" sz="2000" dirty="0"/>
              <a:t>. Fragmented data and slow communication chains cost precious hours when every minute matters. </a:t>
            </a:r>
          </a:p>
          <a:p>
            <a:pPr fontAlgn="base"/>
            <a:endParaRPr lang="en-US" sz="2000" dirty="0"/>
          </a:p>
          <a:p>
            <a:pPr fontAlgn="base"/>
            <a:r>
              <a:rPr lang="en-US" sz="2000" b="1" dirty="0"/>
              <a:t>The Objective</a:t>
            </a:r>
            <a:r>
              <a:rPr lang="en-US" sz="2000" dirty="0"/>
              <a:t> </a:t>
            </a:r>
          </a:p>
          <a:p>
            <a:pPr fontAlgn="base"/>
            <a:r>
              <a:rPr lang="en-US" sz="2000" dirty="0"/>
              <a:t>Build Agentic AI solutions that provide hyperlocal cyclone tracking, fishermen safety alerts, and coordinated evacuation and relief planning for Gujarat’s coastal districts. The solution should: </a:t>
            </a:r>
          </a:p>
          <a:p>
            <a:pPr marL="285750" indent="-285750" fontAlgn="base">
              <a:buFont typeface="Arial" panose="020B0604020202020204" pitchFamily="34" charset="0"/>
              <a:buChar char="•"/>
            </a:pPr>
            <a:r>
              <a:rPr lang="en-US" sz="2000" b="1" dirty="0"/>
              <a:t>Real-Time Cyclone Intelligence</a:t>
            </a:r>
            <a:r>
              <a:rPr lang="en-US" sz="2000" dirty="0"/>
              <a:t> – Track wind speed, intensity, pressure and landfall probability using live meteorological and satellite data. </a:t>
            </a:r>
          </a:p>
          <a:p>
            <a:pPr marL="285750" indent="-285750" fontAlgn="base">
              <a:buFont typeface="Arial" panose="020B0604020202020204" pitchFamily="34" charset="0"/>
              <a:buChar char="•"/>
            </a:pPr>
            <a:r>
              <a:rPr lang="en-US" sz="2000" b="1" dirty="0"/>
              <a:t>Fishermen Safety Alerts</a:t>
            </a:r>
            <a:r>
              <a:rPr lang="en-US" sz="2000" dirty="0"/>
              <a:t> – Deliver vessel-specific recall alerts and danger-zone warnings to fishermen at sea. </a:t>
            </a:r>
          </a:p>
          <a:p>
            <a:pPr marL="285750" indent="-285750" fontAlgn="base">
              <a:buFont typeface="Arial" panose="020B0604020202020204" pitchFamily="34" charset="0"/>
              <a:buChar char="•"/>
            </a:pPr>
            <a:r>
              <a:rPr lang="en-US" sz="2000" b="1" dirty="0"/>
              <a:t>Coordinated Evacuation &amp; Relief</a:t>
            </a:r>
            <a:r>
              <a:rPr lang="en-US" sz="2000" dirty="0"/>
              <a:t> – Plan phased evacuation routes and optimize distribution of food, medical aid and rescue resources. </a:t>
            </a:r>
            <a:endParaRPr lang="en-IN" sz="2000"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1" y="576024"/>
            <a:ext cx="10957167" cy="1384995"/>
          </a:xfrm>
          <a:prstGeom prst="rect">
            <a:avLst/>
          </a:prstGeom>
          <a:noFill/>
        </p:spPr>
        <p:txBody>
          <a:bodyPr wrap="square" rtlCol="0">
            <a:spAutoFit/>
          </a:bodyPr>
          <a:lstStyle/>
          <a:p>
            <a:r>
              <a:rPr lang="en-US" sz="2800" b="1" dirty="0"/>
              <a:t>Problem Statement - AI-Driven Cyclone &amp; Coastal Disaster Early Warning System</a:t>
            </a:r>
            <a:r>
              <a:rPr lang="en-US" sz="2800" dirty="0"/>
              <a:t> </a:t>
            </a:r>
          </a:p>
          <a:p>
            <a:endParaRPr lang="en-IN" sz="2800" b="1" dirty="0"/>
          </a:p>
        </p:txBody>
      </p:sp>
      <p:sp>
        <p:nvSpPr>
          <p:cNvPr id="4" name="Rectangle 3"/>
          <p:cNvSpPr/>
          <p:nvPr/>
        </p:nvSpPr>
        <p:spPr>
          <a:xfrm>
            <a:off x="10526857" y="6240074"/>
            <a:ext cx="1712328" cy="617926"/>
          </a:xfrm>
          <a:prstGeom prst="rect">
            <a:avLst/>
          </a:prstGeom>
        </p:spPr>
        <p:txBody>
          <a:bodyPr wrap="none">
            <a:spAutoFit/>
          </a:bodyPr>
          <a:lstStyle/>
          <a:p>
            <a:pPr fontAlgn="base">
              <a:lnSpc>
                <a:spcPct val="300000"/>
              </a:lnSpc>
            </a:pPr>
            <a:r>
              <a:rPr lang="en-US" b="1" dirty="0" smtClean="0"/>
              <a:t>[To be Continued]</a:t>
            </a:r>
            <a:endParaRPr lang="en-US" b="1" dirty="0"/>
          </a:p>
        </p:txBody>
      </p:sp>
    </p:spTree>
    <p:extLst>
      <p:ext uri="{BB962C8B-B14F-4D97-AF65-F5344CB8AC3E}">
        <p14:creationId xmlns:p14="http://schemas.microsoft.com/office/powerpoint/2010/main" val="2952584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7084" y="173314"/>
            <a:ext cx="6096000" cy="5940088"/>
          </a:xfrm>
          <a:prstGeom prst="rect">
            <a:avLst/>
          </a:prstGeom>
        </p:spPr>
        <p:txBody>
          <a:bodyPr>
            <a:spAutoFit/>
          </a:bodyPr>
          <a:lstStyle/>
          <a:p>
            <a:pPr fontAlgn="base">
              <a:lnSpc>
                <a:spcPct val="300000"/>
              </a:lnSpc>
            </a:pPr>
            <a:r>
              <a:rPr lang="en-US" sz="2000" b="1" dirty="0" smtClean="0"/>
              <a:t>[</a:t>
            </a:r>
            <a:r>
              <a:rPr lang="en-US" sz="2000" b="1" dirty="0" err="1" smtClean="0"/>
              <a:t>Cont</a:t>
            </a:r>
            <a:r>
              <a:rPr lang="en-US" sz="2000" b="1" dirty="0" smtClean="0"/>
              <a:t>]</a:t>
            </a:r>
          </a:p>
          <a:p>
            <a:pPr marL="285750" indent="-285750" fontAlgn="base">
              <a:buFont typeface="Arial" panose="020B0604020202020204" pitchFamily="34" charset="0"/>
              <a:buChar char="•"/>
            </a:pPr>
            <a:r>
              <a:rPr lang="en-US" sz="2000" b="1" dirty="0" smtClean="0"/>
              <a:t>Post-Disaster </a:t>
            </a:r>
            <a:r>
              <a:rPr lang="en-US" sz="2000" b="1" dirty="0"/>
              <a:t>Assessment</a:t>
            </a:r>
            <a:r>
              <a:rPr lang="en-US" sz="2000" dirty="0"/>
              <a:t> – Rapidly assess building, road and agricultural damage to accelerate recovery and aid allocation. </a:t>
            </a:r>
          </a:p>
          <a:p>
            <a:pPr marL="285750" indent="-285750" fontAlgn="base">
              <a:buFont typeface="Arial" panose="020B0604020202020204" pitchFamily="34" charset="0"/>
              <a:buChar char="•"/>
            </a:pPr>
            <a:r>
              <a:rPr lang="en-US" sz="2000" b="1" dirty="0"/>
              <a:t>Suggested AI Agents</a:t>
            </a:r>
            <a:r>
              <a:rPr lang="en-US" sz="2000" dirty="0"/>
              <a:t> – </a:t>
            </a:r>
          </a:p>
          <a:p>
            <a:pPr marL="285750" indent="-285750" fontAlgn="base">
              <a:buFont typeface="Arial" panose="020B0604020202020204" pitchFamily="34" charset="0"/>
              <a:buChar char="•"/>
            </a:pPr>
            <a:r>
              <a:rPr lang="en-US" sz="2000" b="1" dirty="0"/>
              <a:t>Cyclone Track &amp; Intensity Prediction Agent</a:t>
            </a:r>
            <a:r>
              <a:rPr lang="en-US" sz="2000" dirty="0"/>
              <a:t> (predicts wind speed, path and landfall probability) </a:t>
            </a:r>
          </a:p>
          <a:p>
            <a:pPr marL="285750" indent="-285750" fontAlgn="base">
              <a:buFont typeface="Arial" panose="020B0604020202020204" pitchFamily="34" charset="0"/>
              <a:buChar char="•"/>
            </a:pPr>
            <a:r>
              <a:rPr lang="en-US" sz="2000" b="1" dirty="0"/>
              <a:t>Fishermen Safety Alert Agent</a:t>
            </a:r>
            <a:r>
              <a:rPr lang="en-US" sz="2000" dirty="0"/>
              <a:t> (monitors vessel positions and issues recall alerts) </a:t>
            </a:r>
          </a:p>
          <a:p>
            <a:pPr marL="285750" indent="-285750" fontAlgn="base">
              <a:buFont typeface="Arial" panose="020B0604020202020204" pitchFamily="34" charset="0"/>
              <a:buChar char="•"/>
            </a:pPr>
            <a:r>
              <a:rPr lang="en-US" sz="2000" b="1" dirty="0"/>
              <a:t>Evacuation Route Planning Agent</a:t>
            </a:r>
            <a:r>
              <a:rPr lang="en-US" sz="2000" dirty="0"/>
              <a:t> (plans phased, congestion-aware evacuation routes) </a:t>
            </a:r>
          </a:p>
          <a:p>
            <a:pPr marL="285750" indent="-285750" fontAlgn="base">
              <a:buFont typeface="Arial" panose="020B0604020202020204" pitchFamily="34" charset="0"/>
              <a:buChar char="•"/>
            </a:pPr>
            <a:r>
              <a:rPr lang="en-US" sz="2000" b="1" dirty="0"/>
              <a:t>Relief Resource Coordination Agent</a:t>
            </a:r>
            <a:r>
              <a:rPr lang="en-US" sz="2000" dirty="0"/>
              <a:t> (optimizes food, medical and rescue resource distribution) </a:t>
            </a:r>
          </a:p>
          <a:p>
            <a:pPr marL="285750" indent="-285750" fontAlgn="base">
              <a:buFont typeface="Arial" panose="020B0604020202020204" pitchFamily="34" charset="0"/>
              <a:buChar char="•"/>
            </a:pPr>
            <a:r>
              <a:rPr lang="en-US" sz="2000" b="1" dirty="0"/>
              <a:t>Post-Disaster Damage Assessment Agent</a:t>
            </a:r>
            <a:r>
              <a:rPr lang="en-US" sz="2000" dirty="0"/>
              <a:t> – assesses infrastructure and agricultural damage for faster recovery. </a:t>
            </a:r>
          </a:p>
        </p:txBody>
      </p:sp>
    </p:spTree>
    <p:extLst>
      <p:ext uri="{BB962C8B-B14F-4D97-AF65-F5344CB8AC3E}">
        <p14:creationId xmlns:p14="http://schemas.microsoft.com/office/powerpoint/2010/main" val="4186927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8646586" cy="5539978"/>
          </a:xfrm>
          <a:prstGeom prst="rect">
            <a:avLst/>
          </a:prstGeom>
          <a:noFill/>
        </p:spPr>
        <p:txBody>
          <a:bodyPr wrap="square" rtlCol="0">
            <a:spAutoFit/>
          </a:bodyPr>
          <a:lstStyle/>
          <a:p>
            <a:pPr marL="285750" indent="-285750" fontAlgn="base">
              <a:buFont typeface="Arial" panose="020B0604020202020204" pitchFamily="34" charset="0"/>
              <a:buChar char="•"/>
            </a:pPr>
            <a:endParaRPr lang="en-US" b="1" dirty="0"/>
          </a:p>
          <a:p>
            <a:pPr marL="342900" indent="-342900">
              <a:buFont typeface="Arial" panose="020B0604020202020204" pitchFamily="34" charset="0"/>
              <a:buChar char="•"/>
            </a:pPr>
            <a:r>
              <a:rPr lang="en-US" sz="2000" dirty="0" smtClean="0"/>
              <a:t>The </a:t>
            </a:r>
            <a:r>
              <a:rPr lang="en-US" sz="2000" dirty="0"/>
              <a:t>proposed solution is a </a:t>
            </a:r>
            <a:r>
              <a:rPr lang="en-US" sz="2000" b="1" dirty="0"/>
              <a:t>multi-agent Agentic AI system</a:t>
            </a:r>
            <a:r>
              <a:rPr lang="en-US" sz="2000" dirty="0"/>
              <a:t> built using </a:t>
            </a:r>
            <a:r>
              <a:rPr lang="en-US" sz="2000" b="1" dirty="0" err="1"/>
              <a:t>Langflow</a:t>
            </a:r>
            <a:r>
              <a:rPr lang="en-US" sz="2000" b="1" dirty="0"/>
              <a:t>, IBM Granite LLM, IBM Bob, and IBM Cloud</a:t>
            </a:r>
            <a:r>
              <a:rPr lang="en-US" sz="2000" dirty="0"/>
              <a:t> to provide hyperlocal cyclone tracking, fishermen safety alerts, and coordinated disaster response for Gujarat’s coastal communities. The system addresses delayed warnings, hyperlocal risk gaps, and fragmented relief coordination through an intelligent, modular architecture.</a:t>
            </a:r>
          </a:p>
          <a:p>
            <a:pPr marL="342900" indent="-342900">
              <a:buFont typeface="Arial" panose="020B0604020202020204" pitchFamily="34" charset="0"/>
              <a:buChar char="•"/>
            </a:pPr>
            <a:r>
              <a:rPr lang="en-US" sz="2000" dirty="0"/>
              <a:t>At its core, the solution uses a </a:t>
            </a:r>
            <a:r>
              <a:rPr lang="en-US" sz="2000" b="1" dirty="0"/>
              <a:t>Retrieval-Augmented Generation (RAG)</a:t>
            </a:r>
            <a:r>
              <a:rPr lang="en-US" sz="2000" dirty="0"/>
              <a:t> pipeline to fetch accurate, real-time cyclone and coastal data from sources such as IMD, INCOIS, and satellite feeds. This data is embedded and stored in a vector database, enabling the system to retrieve and summarize wind speed, pressure, and landfall risk using Granite models</a:t>
            </a:r>
            <a:r>
              <a:rPr lang="en-US" sz="2000" dirty="0" smtClean="0"/>
              <a:t>.</a:t>
            </a:r>
          </a:p>
          <a:p>
            <a:pPr marL="342900" indent="-342900">
              <a:buFont typeface="Arial" panose="020B0604020202020204" pitchFamily="34" charset="0"/>
              <a:buChar char="•"/>
            </a:pPr>
            <a:r>
              <a:rPr lang="en-US" sz="2000" dirty="0"/>
              <a:t>The system consists of five key agents:</a:t>
            </a:r>
          </a:p>
          <a:p>
            <a:pPr marL="342900" indent="-342900">
              <a:buFont typeface="Arial" panose="020B0604020202020204" pitchFamily="34" charset="0"/>
              <a:buChar char="•"/>
            </a:pPr>
            <a:r>
              <a:rPr lang="en-US" sz="2000" b="1" dirty="0"/>
              <a:t>Cyclone Track &amp; Intensity Prediction Agent</a:t>
            </a:r>
            <a:r>
              <a:rPr lang="en-US" sz="2000" dirty="0"/>
              <a:t> predicts wind speed, path, pressure and landfall probability using live meteorological and satellite data. </a:t>
            </a:r>
          </a:p>
          <a:p>
            <a:endParaRPr lang="en-US" sz="2000"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1612" y="1211332"/>
            <a:ext cx="9094839" cy="5940088"/>
          </a:xfrm>
          <a:prstGeom prst="rect">
            <a:avLst/>
          </a:prstGeom>
        </p:spPr>
        <p:txBody>
          <a:bodyPr wrap="square">
            <a:spAutoFit/>
          </a:bodyPr>
          <a:lstStyle/>
          <a:p>
            <a:pPr marL="342900" indent="-342900">
              <a:buFont typeface="Arial" panose="020B0604020202020204" pitchFamily="34" charset="0"/>
              <a:buChar char="•"/>
            </a:pPr>
            <a:r>
              <a:rPr lang="en-US" sz="2000" b="1" dirty="0" smtClean="0"/>
              <a:t>Fishermen </a:t>
            </a:r>
            <a:r>
              <a:rPr lang="en-US" sz="2000" b="1" dirty="0"/>
              <a:t>Safety Alert Agent</a:t>
            </a:r>
            <a:r>
              <a:rPr lang="en-US" sz="2000" dirty="0"/>
              <a:t> tracks vessel locations and issues real-time recall alerts to vessels approaching high-risk zones. </a:t>
            </a:r>
          </a:p>
          <a:p>
            <a:pPr marL="342900" indent="-342900">
              <a:buFont typeface="Arial" panose="020B0604020202020204" pitchFamily="34" charset="0"/>
              <a:buChar char="•"/>
            </a:pPr>
            <a:r>
              <a:rPr lang="en-US" sz="2000" b="1" dirty="0"/>
              <a:t>Evacuation Route Planning Agent</a:t>
            </a:r>
            <a:r>
              <a:rPr lang="en-US" sz="2000" dirty="0"/>
              <a:t> analyzes population density, shelter capacity and traffic to generate phased, congestion-aware evacuation plans. </a:t>
            </a:r>
          </a:p>
          <a:p>
            <a:pPr marL="342900" indent="-342900">
              <a:buFont typeface="Arial" panose="020B0604020202020204" pitchFamily="34" charset="0"/>
              <a:buChar char="•"/>
            </a:pPr>
            <a:r>
              <a:rPr lang="en-US" sz="2000" b="1" dirty="0"/>
              <a:t>Relief Resource Coordination Agent and Post-Disaster Damage Assessment Agent</a:t>
            </a:r>
            <a:r>
              <a:rPr lang="en-US" sz="2000" dirty="0"/>
              <a:t> jointly optimize distribution of food, medical kits and rescue boats, and assess building, road and agricultural damage to accelerate recovery. </a:t>
            </a:r>
          </a:p>
          <a:p>
            <a:pPr marL="342900" indent="-342900">
              <a:buFont typeface="Arial" panose="020B0604020202020204" pitchFamily="34" charset="0"/>
              <a:buChar char="•"/>
            </a:pPr>
            <a:r>
              <a:rPr lang="en-US" sz="2000" dirty="0"/>
              <a:t>The solution includes a </a:t>
            </a:r>
            <a:r>
              <a:rPr lang="en-US" sz="2000" b="1" dirty="0"/>
              <a:t>live Command Center dashboard</a:t>
            </a:r>
            <a:r>
              <a:rPr lang="en-US" sz="2000" dirty="0"/>
              <a:t> (built with React) that visualizes real-time cyclone risk, active alerts, evacuation progress, and relief resource allocation across coastal districts.</a:t>
            </a:r>
          </a:p>
          <a:p>
            <a:pPr marL="342900" indent="-342900">
              <a:buFont typeface="Arial" panose="020B0604020202020204" pitchFamily="34" charset="0"/>
              <a:buChar char="•"/>
            </a:pPr>
            <a:r>
              <a:rPr lang="en-US" sz="2000" dirty="0" err="1"/>
              <a:t>Langflow</a:t>
            </a:r>
            <a:r>
              <a:rPr lang="en-US" sz="2000" dirty="0"/>
              <a:t> is used to orchestrate the five-agent workflow, while IBM Cloud and IBM Bob ensure scalable deployment and governance. IBM Granite LLM powers reasoning, summarization, and hyperlocal risk analysis.</a:t>
            </a:r>
          </a:p>
          <a:p>
            <a:pPr marL="342900" indent="-342900">
              <a:buFont typeface="Arial" panose="020B0604020202020204" pitchFamily="34" charset="0"/>
              <a:buChar char="•"/>
            </a:pPr>
            <a:r>
              <a:rPr lang="en-US" sz="2000" dirty="0"/>
              <a:t>Overall, this solution delivers an </a:t>
            </a:r>
            <a:r>
              <a:rPr lang="en-US" sz="2000" b="1" dirty="0"/>
              <a:t>end-to-end agentic disaster intelligence system</a:t>
            </a:r>
            <a:r>
              <a:rPr lang="en-US" sz="2000" dirty="0"/>
              <a:t> that protects coastal lives and livelihoods through hyperlocal warnings, coordinated evacuation, and rapid relief response.</a:t>
            </a:r>
          </a:p>
          <a:p>
            <a:pPr marL="285750" indent="-285750" fontAlgn="base">
              <a:buFont typeface="Arial" panose="020B0604020202020204" pitchFamily="34" charset="0"/>
              <a:buChar char="•"/>
            </a:pPr>
            <a:endParaRPr lang="en-US" sz="2000" dirty="0"/>
          </a:p>
          <a:p>
            <a:pPr marL="285750" indent="-285750">
              <a:buFont typeface="Arial" panose="020B0604020202020204" pitchFamily="34" charset="0"/>
              <a:buChar char="•"/>
            </a:pPr>
            <a:endParaRPr lang="en-IN" sz="2000" dirty="0"/>
          </a:p>
        </p:txBody>
      </p:sp>
      <p:sp>
        <p:nvSpPr>
          <p:cNvPr id="3" name="Rectangle 2"/>
          <p:cNvSpPr/>
          <p:nvPr/>
        </p:nvSpPr>
        <p:spPr>
          <a:xfrm>
            <a:off x="854141" y="218145"/>
            <a:ext cx="939681" cy="843244"/>
          </a:xfrm>
          <a:prstGeom prst="rect">
            <a:avLst/>
          </a:prstGeom>
        </p:spPr>
        <p:txBody>
          <a:bodyPr wrap="none">
            <a:spAutoFit/>
          </a:bodyPr>
          <a:lstStyle/>
          <a:p>
            <a:pPr fontAlgn="base">
              <a:lnSpc>
                <a:spcPct val="300000"/>
              </a:lnSpc>
            </a:pPr>
            <a:r>
              <a:rPr lang="en-US" sz="2000" b="1" dirty="0"/>
              <a:t>[</a:t>
            </a:r>
            <a:r>
              <a:rPr lang="en-US" sz="2000" b="1" dirty="0" err="1"/>
              <a:t>Cont</a:t>
            </a:r>
            <a:r>
              <a:rPr lang="en-US" sz="2000" b="1" dirty="0"/>
              <a:t>]</a:t>
            </a:r>
          </a:p>
        </p:txBody>
      </p:sp>
    </p:spTree>
    <p:extLst>
      <p:ext uri="{BB962C8B-B14F-4D97-AF65-F5344CB8AC3E}">
        <p14:creationId xmlns:p14="http://schemas.microsoft.com/office/powerpoint/2010/main" val="1780965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b="1" dirty="0" err="1"/>
              <a:t>Langflow</a:t>
            </a:r>
            <a:r>
              <a:rPr lang="en-US" sz="2000" b="1" dirty="0"/>
              <a:t> platform </a:t>
            </a:r>
            <a:r>
              <a:rPr lang="en-US" sz="2000" dirty="0"/>
              <a:t>-For designing and orchestrating the 5-agent disaster response workflow visually</a:t>
            </a:r>
          </a:p>
          <a:p>
            <a:pPr marL="285750" indent="-285750">
              <a:buFont typeface="Arial" panose="020B0604020202020204" pitchFamily="34" charset="0"/>
              <a:buChar char="•"/>
            </a:pPr>
            <a:r>
              <a:rPr lang="en-US" sz="2000" b="1" dirty="0" smtClean="0"/>
              <a:t>IBM </a:t>
            </a:r>
            <a:r>
              <a:rPr lang="en-US" sz="2000" b="1" dirty="0"/>
              <a:t>Granite LLM </a:t>
            </a:r>
            <a:r>
              <a:rPr lang="en-US" sz="2000" dirty="0"/>
              <a:t>-  for </a:t>
            </a:r>
            <a:r>
              <a:rPr lang="en-US" sz="2000" dirty="0" err="1"/>
              <a:t>eg</a:t>
            </a:r>
            <a:r>
              <a:rPr lang="en-US" sz="2000" dirty="0"/>
              <a:t> – granite-3-2-8b-instruct – For natural language understanding, reasoning, and hyperlocal risk analysis</a:t>
            </a:r>
          </a:p>
          <a:p>
            <a:pPr marL="285750" indent="-285750">
              <a:buFont typeface="Arial" panose="020B0604020202020204" pitchFamily="34" charset="0"/>
              <a:buChar char="•"/>
            </a:pPr>
            <a:r>
              <a:rPr lang="en-US" sz="2000" b="1" dirty="0" smtClean="0"/>
              <a:t>IBM </a:t>
            </a:r>
            <a:r>
              <a:rPr lang="en-US" sz="2000" b="1" dirty="0"/>
              <a:t>Cloud </a:t>
            </a:r>
            <a:r>
              <a:rPr lang="en-US" sz="2000" dirty="0"/>
              <a:t>– It provides the infrastructure to build, deploy, and scale the disaster response agents efficiently. IBM Cloud enables a </a:t>
            </a:r>
            <a:r>
              <a:rPr lang="en-US" sz="2000" b="1" dirty="0"/>
              <a:t>reliable, secure, and scalable environment</a:t>
            </a:r>
            <a:r>
              <a:rPr lang="en-US" sz="2000" dirty="0"/>
              <a:t> for deploying the early warning system.</a:t>
            </a:r>
          </a:p>
          <a:p>
            <a:pPr marL="285750" indent="-285750">
              <a:buFont typeface="Arial" panose="020B0604020202020204" pitchFamily="34" charset="0"/>
              <a:buChar char="•"/>
            </a:pPr>
            <a:r>
              <a:rPr lang="en-US" sz="2000" b="1" dirty="0" smtClean="0"/>
              <a:t>RAG</a:t>
            </a:r>
            <a:r>
              <a:rPr lang="en-US" sz="2000" b="1" dirty="0"/>
              <a:t>– </a:t>
            </a:r>
            <a:r>
              <a:rPr lang="en-US" sz="2000" dirty="0"/>
              <a:t>RAG to </a:t>
            </a:r>
            <a:r>
              <a:rPr lang="en-US" sz="2000" b="1" dirty="0"/>
              <a:t>fetch real-time IMD, INCOIS, and satellite cyclone data first, then generate intelligent alerts</a:t>
            </a:r>
            <a:r>
              <a:rPr lang="en-US" sz="2000" dirty="0"/>
              <a:t>, making the early warning system more trustworthy and effective.</a:t>
            </a:r>
          </a:p>
          <a:p>
            <a:pPr marL="285750" indent="-285750">
              <a:buFont typeface="Arial" panose="020B0604020202020204" pitchFamily="34" charset="0"/>
              <a:buChar char="•"/>
            </a:pPr>
            <a:r>
              <a:rPr lang="en-US" sz="2000" b="1" dirty="0" smtClean="0"/>
              <a:t>IBM </a:t>
            </a:r>
            <a:r>
              <a:rPr lang="en-US" sz="2000" b="1" dirty="0"/>
              <a:t>Bob - </a:t>
            </a:r>
            <a:r>
              <a:rPr lang="en-US" sz="2000" dirty="0"/>
              <a:t>AI-powered coding assistant used to build, debug, and validate the </a:t>
            </a:r>
            <a:r>
              <a:rPr lang="en-US" sz="2000" dirty="0" err="1"/>
              <a:t>Langflow</a:t>
            </a:r>
            <a:r>
              <a:rPr lang="en-US" sz="2000" dirty="0"/>
              <a:t> agent pipelines during development</a:t>
            </a:r>
          </a:p>
          <a:p>
            <a:pPr marL="285750" indent="-285750">
              <a:buFont typeface="Arial" panose="020B0604020202020204" pitchFamily="34" charset="0"/>
              <a:buChar char="•"/>
            </a:pPr>
            <a:r>
              <a:rPr lang="en-IN" sz="2000" b="1" dirty="0" smtClean="0"/>
              <a:t>Vector </a:t>
            </a:r>
            <a:r>
              <a:rPr lang="en-IN" sz="2000" b="1" dirty="0"/>
              <a:t>Database </a:t>
            </a:r>
            <a:r>
              <a:rPr lang="en-IN" sz="2000" dirty="0"/>
              <a:t>(FAISS/Chroma) – For RAG-based retrieval of historical cyclone tracks and coastal risk </a:t>
            </a:r>
            <a:r>
              <a:rPr lang="en-IN" sz="2000" dirty="0" smtClean="0"/>
              <a:t>data</a:t>
            </a:r>
            <a:r>
              <a:rPr lang="en-IN" sz="2000" dirty="0"/>
              <a:t>.</a:t>
            </a:r>
            <a:endParaRPr lang="en-US" sz="2000" dirty="0"/>
          </a:p>
        </p:txBody>
      </p:sp>
    </p:spTree>
    <p:extLst>
      <p:ext uri="{BB962C8B-B14F-4D97-AF65-F5344CB8AC3E}">
        <p14:creationId xmlns:p14="http://schemas.microsoft.com/office/powerpoint/2010/main" val="37644058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smtClean="0"/>
              <a:t>Technology Used</a:t>
            </a:r>
            <a:endParaRPr lang="en-IN" sz="28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128349"/>
            <a:ext cx="10515600" cy="3785652"/>
          </a:xfrm>
          <a:prstGeom prst="rect">
            <a:avLst/>
          </a:prstGeom>
          <a:noFill/>
        </p:spPr>
        <p:txBody>
          <a:bodyPr wrap="square" lIns="91440" tIns="45720" rIns="91440" bIns="45720" rtlCol="0" anchor="t">
            <a:spAutoFit/>
          </a:bodyPr>
          <a:lstStyle/>
          <a:p>
            <a:r>
              <a:rPr lang="en-US" sz="2000" b="1" dirty="0" smtClean="0"/>
              <a:t>1</a:t>
            </a:r>
            <a:r>
              <a:rPr lang="en-US" sz="2000" b="1" dirty="0"/>
              <a:t>) Chat Input </a:t>
            </a:r>
            <a:r>
              <a:rPr lang="en-US" sz="2000" dirty="0"/>
              <a:t>– Interface where fishermen, officials, or citizens enter location, vessel ID, or district queries (text/voice).</a:t>
            </a:r>
          </a:p>
          <a:p>
            <a:r>
              <a:rPr lang="en-US" sz="2000" b="1" dirty="0" smtClean="0"/>
              <a:t>2</a:t>
            </a:r>
            <a:r>
              <a:rPr lang="en-US" sz="2000" b="1" dirty="0"/>
              <a:t>) IBM </a:t>
            </a:r>
            <a:r>
              <a:rPr lang="en-US" sz="2000" b="1" dirty="0" err="1"/>
              <a:t>watsonx</a:t>
            </a:r>
            <a:r>
              <a:rPr lang="en-US" sz="2000" b="1" dirty="0"/>
              <a:t> AI Agent </a:t>
            </a:r>
            <a:r>
              <a:rPr lang="en-US" sz="2000" dirty="0"/>
              <a:t>- Processes user input using Granite models to generate </a:t>
            </a:r>
            <a:r>
              <a:rPr lang="en-US" sz="2000" dirty="0" smtClean="0"/>
              <a:t>hyperlocal </a:t>
            </a:r>
            <a:r>
              <a:rPr lang="en-US" sz="2000" dirty="0"/>
              <a:t>cyclone risk analysis and safety alerts. </a:t>
            </a:r>
          </a:p>
          <a:p>
            <a:r>
              <a:rPr lang="en-US" sz="2000" b="1" dirty="0" smtClean="0"/>
              <a:t>3</a:t>
            </a:r>
            <a:r>
              <a:rPr lang="en-US" sz="2000" b="1" dirty="0"/>
              <a:t>) Name of IBM Granite model - </a:t>
            </a:r>
            <a:r>
              <a:rPr lang="en-US" sz="2000" dirty="0"/>
              <a:t>granite-3-2-8b-instruct → Fast, efficient for real-time cyclone risk analysis and alert generation</a:t>
            </a:r>
          </a:p>
          <a:p>
            <a:r>
              <a:rPr lang="en-US" sz="2000" b="1" dirty="0" smtClean="0"/>
              <a:t>4</a:t>
            </a:r>
            <a:r>
              <a:rPr lang="en-US" sz="2000" b="1" dirty="0"/>
              <a:t>) Chat output -</a:t>
            </a:r>
            <a:r>
              <a:rPr lang="en-US" sz="2000" dirty="0"/>
              <a:t>Displays AI-generated cyclone alerts, evacuation routes, and relief coordination updates. </a:t>
            </a:r>
          </a:p>
          <a:p>
            <a:r>
              <a:rPr lang="en-US" sz="2000" b="1" dirty="0" smtClean="0"/>
              <a:t>5) </a:t>
            </a:r>
            <a:r>
              <a:rPr lang="en-US" sz="2000" b="1" dirty="0">
                <a:highlight>
                  <a:srgbClr val="FFFF00"/>
                </a:highlight>
              </a:rPr>
              <a:t>File component - </a:t>
            </a:r>
            <a:r>
              <a:rPr lang="en-US" sz="2000" dirty="0">
                <a:highlight>
                  <a:srgbClr val="FFFF00"/>
                </a:highlight>
              </a:rPr>
              <a:t>Stores and retrieves IMD cyclone bulletins, vessel registries, and shelter/resource datasets for analysis and tracking.</a:t>
            </a:r>
          </a:p>
          <a:p>
            <a:r>
              <a:rPr lang="en-US" sz="2000" dirty="0" smtClean="0"/>
              <a:t>6</a:t>
            </a:r>
            <a:r>
              <a:rPr lang="en-US" sz="2000" dirty="0"/>
              <a:t>) </a:t>
            </a:r>
            <a:r>
              <a:rPr lang="en-US" sz="2000" dirty="0">
                <a:highlight>
                  <a:srgbClr val="FFFF00"/>
                </a:highlight>
              </a:rPr>
              <a:t>API/Tool component – Fetches live weather, wind, and ocean-state data from IMD and INCOIS APIs</a:t>
            </a:r>
            <a:r>
              <a:rPr lang="en-US" sz="2000" dirty="0" smtClean="0">
                <a:highlight>
                  <a:srgbClr val="FFFF00"/>
                </a:highlight>
              </a:rPr>
              <a:t>.</a:t>
            </a:r>
            <a:endParaRPr lang="en-US" sz="2000" dirty="0">
              <a:highlight>
                <a:srgbClr val="FFFF00"/>
              </a:highlight>
            </a:endParaRPr>
          </a:p>
        </p:txBody>
      </p:sp>
    </p:spTree>
    <p:extLst>
      <p:ext uri="{BB962C8B-B14F-4D97-AF65-F5344CB8AC3E}">
        <p14:creationId xmlns:p14="http://schemas.microsoft.com/office/powerpoint/2010/main" val="42245846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smtClean="0">
                <a:sym typeface="Times New Roman"/>
              </a:rPr>
              <a:t>Workflow Architecture-</a:t>
            </a:r>
            <a:endParaRPr sz="2400" b="1" dirty="0">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808" y="1081548"/>
            <a:ext cx="11798547" cy="3819380"/>
          </a:xfrm>
          <a:prstGeom prst="rect">
            <a:avLst/>
          </a:prstGeom>
        </p:spPr>
      </p:pic>
    </p:spTree>
    <p:extLst>
      <p:ext uri="{BB962C8B-B14F-4D97-AF65-F5344CB8AC3E}">
        <p14:creationId xmlns:p14="http://schemas.microsoft.com/office/powerpoint/2010/main" val="27725019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 xmlns:a16="http://schemas.microsoft.com/office/drawing/2014/main" id="{B84A7B44-8B20-5A39-ED43-DA98D0FC7976}"/>
              </a:ext>
            </a:extLst>
          </p:cNvPr>
          <p:cNvSpPr txBox="1"/>
          <p:nvPr/>
        </p:nvSpPr>
        <p:spPr>
          <a:xfrm>
            <a:off x="561920" y="49977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561920" y="1118332"/>
            <a:ext cx="9257864" cy="5632311"/>
          </a:xfrm>
          <a:prstGeom prst="rect">
            <a:avLst/>
          </a:prstGeom>
          <a:noFill/>
        </p:spPr>
        <p:txBody>
          <a:bodyPr wrap="square" rtlCol="0">
            <a:spAutoFit/>
          </a:bodyPr>
          <a:lstStyle/>
          <a:p>
            <a:r>
              <a:rPr lang="en-US" sz="2000" b="1" dirty="0"/>
              <a:t>Role of Agentic AI in the Cyclone &amp; Coastal Disaster Early Warning System</a:t>
            </a:r>
          </a:p>
          <a:p>
            <a:r>
              <a:rPr lang="en-US" sz="2000" b="1" dirty="0"/>
              <a:t>Agentic AI</a:t>
            </a:r>
            <a:r>
              <a:rPr lang="en-US" sz="2000" dirty="0"/>
              <a:t> enables the early warning system to function as an intelligent, autonomous system rather than a simple alert tool. Using </a:t>
            </a:r>
            <a:r>
              <a:rPr lang="en-US" sz="2000" b="1" dirty="0"/>
              <a:t>IBM Cloud</a:t>
            </a:r>
            <a:r>
              <a:rPr lang="en-US" sz="2000" dirty="0"/>
              <a:t> and </a:t>
            </a:r>
            <a:r>
              <a:rPr lang="en-US" sz="2000" b="1" dirty="0"/>
              <a:t>IBM Granite LLM</a:t>
            </a:r>
            <a:r>
              <a:rPr lang="en-US" sz="2000" dirty="0"/>
              <a:t>, it coordinates multiple specialized agents to deliver hyperlocal disaster intelligence.</a:t>
            </a:r>
          </a:p>
          <a:p>
            <a:r>
              <a:rPr lang="en-US" sz="2000" dirty="0"/>
              <a:t>Each agent performs a specific role—such as predicting cyclone intensity, alerting fishermen, planning evacuation routes, coordinating relief, and assessing damage—while working collaboratively. This </a:t>
            </a:r>
            <a:r>
              <a:rPr lang="en-US" sz="2000" b="1" dirty="0"/>
              <a:t>multi-agent approach</a:t>
            </a:r>
            <a:r>
              <a:rPr lang="en-US" sz="2000" dirty="0"/>
              <a:t> ensures efficient task execution and accurate, life-saving results.</a:t>
            </a:r>
          </a:p>
          <a:p>
            <a:r>
              <a:rPr lang="en-US" sz="2000" dirty="0"/>
              <a:t>Agentic AI also brings </a:t>
            </a:r>
            <a:r>
              <a:rPr lang="en-US" sz="2000" b="1" dirty="0"/>
              <a:t>context awareness</a:t>
            </a:r>
            <a:r>
              <a:rPr lang="en-US" sz="2000" dirty="0"/>
              <a:t>, understanding coastline geography, vessel locations, and district population density to generate tailored alerts. It supports </a:t>
            </a:r>
            <a:r>
              <a:rPr lang="en-US" sz="2000" b="1" dirty="0"/>
              <a:t>real-time adaptation</a:t>
            </a:r>
            <a:r>
              <a:rPr lang="en-US" sz="2000" dirty="0"/>
              <a:t>, continuously updating warnings as the cyclone track and intensity change.</a:t>
            </a:r>
          </a:p>
          <a:p>
            <a:r>
              <a:rPr lang="en-US" sz="2000" dirty="0"/>
              <a:t>Additionally, agents communicate with each other, enabling better-coordinated evacuation and relief decisions.</a:t>
            </a:r>
          </a:p>
          <a:p>
            <a:r>
              <a:rPr lang="en-US" sz="2000" dirty="0"/>
              <a:t>Overall, Agentic AI makes the system proactive, coordinated, and life-saving, acting like a </a:t>
            </a:r>
            <a:r>
              <a:rPr lang="en-US" sz="2000" b="1" dirty="0"/>
              <a:t>smart digital disaster commander</a:t>
            </a:r>
            <a:r>
              <a:rPr lang="en-US" sz="2000" dirty="0"/>
              <a:t> that helps protect coastal communities.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007852"/>
            <a:ext cx="8848541" cy="5632311"/>
          </a:xfrm>
          <a:prstGeom prst="rect">
            <a:avLst/>
          </a:prstGeom>
          <a:noFill/>
        </p:spPr>
        <p:txBody>
          <a:bodyPr wrap="square" rtlCol="0">
            <a:spAutoFit/>
          </a:bodyPr>
          <a:lstStyle/>
          <a:p>
            <a:pPr marL="342900" indent="-342900">
              <a:buFont typeface="Arial" panose="020B0604020202020204" pitchFamily="34" charset="0"/>
              <a:buChar char="•"/>
            </a:pPr>
            <a:r>
              <a:rPr lang="en-IN" sz="2000" dirty="0"/>
              <a:t>The proposed early warning system stands out by combining </a:t>
            </a:r>
            <a:r>
              <a:rPr lang="en-IN" sz="2000" b="1" dirty="0"/>
              <a:t>Agentic AI, real-time RAG, and hyperlocal personalization</a:t>
            </a:r>
            <a:r>
              <a:rPr lang="en-IN" sz="2000" dirty="0"/>
              <a:t> into a single intelligent disaster-response platform.</a:t>
            </a:r>
          </a:p>
          <a:p>
            <a:pPr marL="342900" indent="-342900">
              <a:buFont typeface="Arial" panose="020B0604020202020204" pitchFamily="34" charset="0"/>
              <a:buChar char="•"/>
            </a:pPr>
            <a:r>
              <a:rPr lang="en-IN" sz="2000" b="1" dirty="0" smtClean="0"/>
              <a:t>Multi-Agent </a:t>
            </a:r>
            <a:r>
              <a:rPr lang="en-IN" sz="2000" b="1" dirty="0"/>
              <a:t>Intelligence</a:t>
            </a:r>
            <a:r>
              <a:rPr lang="en-IN" sz="2000" dirty="0"/>
              <a:t> – Five specialized agents collaborate to deliver cyclone tracking, safety alerts, evacuation planning, relief coordination, and damage assessment. </a:t>
            </a:r>
          </a:p>
          <a:p>
            <a:pPr marL="342900" indent="-342900">
              <a:buFont typeface="Arial" panose="020B0604020202020204" pitchFamily="34" charset="0"/>
              <a:buChar char="•"/>
            </a:pPr>
            <a:r>
              <a:rPr lang="en-IN" sz="2000" b="1" dirty="0"/>
              <a:t>RAG-Based Accuracy</a:t>
            </a:r>
            <a:r>
              <a:rPr lang="en-IN" sz="2000" dirty="0"/>
              <a:t> – Integrates real-time IMD/INCOIS data with AI generation, reducing false alarms and misinformation. </a:t>
            </a:r>
          </a:p>
          <a:p>
            <a:pPr marL="342900" indent="-342900">
              <a:buFont typeface="Arial" panose="020B0604020202020204" pitchFamily="34" charset="0"/>
              <a:buChar char="•"/>
            </a:pPr>
            <a:r>
              <a:rPr lang="en-IN" sz="2000" b="1" dirty="0"/>
              <a:t>Hyper-Personalization</a:t>
            </a:r>
            <a:r>
              <a:rPr lang="en-IN" sz="2000" dirty="0"/>
              <a:t> – Tailors alerts by district, vessel, and coastal community risk profile. </a:t>
            </a:r>
          </a:p>
          <a:p>
            <a:pPr marL="342900" indent="-342900">
              <a:buFont typeface="Arial" panose="020B0604020202020204" pitchFamily="34" charset="0"/>
              <a:buChar char="•"/>
            </a:pPr>
            <a:r>
              <a:rPr lang="en-IN" sz="2000" b="1" dirty="0"/>
              <a:t>Real-Time Feedback Loop</a:t>
            </a:r>
            <a:r>
              <a:rPr lang="en-IN" sz="2000" dirty="0"/>
              <a:t> – Continuously adapts cyclone track and evacuation plans as conditions change. </a:t>
            </a:r>
          </a:p>
          <a:p>
            <a:pPr marL="342900" indent="-342900">
              <a:buFont typeface="Arial" panose="020B0604020202020204" pitchFamily="34" charset="0"/>
              <a:buChar char="•"/>
            </a:pPr>
            <a:r>
              <a:rPr lang="en-IN" sz="2000" b="1" dirty="0"/>
              <a:t>Multi-Modal Input</a:t>
            </a:r>
            <a:r>
              <a:rPr lang="en-IN" sz="2000" dirty="0"/>
              <a:t> – Supports text, voice, and SMS-based alerts for low-connectivity coastal areas. </a:t>
            </a:r>
          </a:p>
          <a:p>
            <a:pPr marL="342900" indent="-342900">
              <a:buFont typeface="Arial" panose="020B0604020202020204" pitchFamily="34" charset="0"/>
              <a:buChar char="•"/>
            </a:pPr>
            <a:r>
              <a:rPr lang="en-IN" sz="2000" b="1" dirty="0"/>
              <a:t>Full Disaster-Cycle Coverage</a:t>
            </a:r>
            <a:r>
              <a:rPr lang="en-IN" sz="2000" dirty="0"/>
              <a:t> – Spans early warning through post-disaster recovery, not just alerting. </a:t>
            </a:r>
          </a:p>
          <a:p>
            <a:pPr marL="342900" indent="-342900">
              <a:buFont typeface="Arial" panose="020B0604020202020204" pitchFamily="34" charset="0"/>
              <a:buChar char="•"/>
            </a:pPr>
            <a:r>
              <a:rPr lang="en-IN" sz="2000" b="1" dirty="0"/>
              <a:t>Scalable &amp; Enterprise-Ready</a:t>
            </a:r>
            <a:r>
              <a:rPr lang="en-IN" sz="2000" dirty="0"/>
              <a:t> – Built on </a:t>
            </a:r>
            <a:r>
              <a:rPr lang="en-IN" sz="2000" b="1" dirty="0"/>
              <a:t>IBM Cloud</a:t>
            </a:r>
            <a:r>
              <a:rPr lang="en-IN" sz="2000" dirty="0"/>
              <a:t> with </a:t>
            </a:r>
            <a:r>
              <a:rPr lang="en-IN" sz="2000" b="1" dirty="0"/>
              <a:t>IBM Granite LLM</a:t>
            </a:r>
            <a:r>
              <a:rPr lang="en-IN" sz="2000" dirty="0"/>
              <a:t>, ensuring reliability and governance. </a:t>
            </a:r>
          </a:p>
        </p:txBody>
      </p:sp>
    </p:spTree>
    <p:extLst>
      <p:ext uri="{BB962C8B-B14F-4D97-AF65-F5344CB8AC3E}">
        <p14:creationId xmlns:p14="http://schemas.microsoft.com/office/powerpoint/2010/main" val="9179641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1" i="0" u="none" strike="noStrike" cap="none" dirty="0">
                <a:solidFill>
                  <a:srgbClr val="2B3541"/>
                </a:solidFill>
                <a:latin typeface="Times New Roman"/>
                <a:ea typeface="Times New Roman"/>
                <a:cs typeface="Times New Roman"/>
                <a:sym typeface="Times New Roman"/>
              </a:rPr>
              <a:t>1.Integration with Satellite &amp; Drone Imagery – </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The system can be integrated with live satellite feeds and post-cyclone drone imagery to improve landfall prediction accuracy and speed up damage assessment across affected coastal districts.</a:t>
            </a:r>
          </a:p>
          <a:p>
            <a:pPr marL="0" marR="0" lvl="0" indent="0" algn="l" rtl="0">
              <a:lnSpc>
                <a:spcPct val="162162"/>
              </a:lnSpc>
              <a:spcBef>
                <a:spcPts val="0"/>
              </a:spcBef>
              <a:spcAft>
                <a:spcPts val="0"/>
              </a:spcAft>
              <a:buClr>
                <a:srgbClr val="2B3541"/>
              </a:buClr>
              <a:buSzPts val="1850"/>
              <a:buFont typeface="Times New Roman"/>
              <a:buNone/>
            </a:pPr>
            <a:r>
              <a:rPr lang="en-US" sz="2000" b="1" dirty="0">
                <a:solidFill>
                  <a:srgbClr val="2B3541"/>
                </a:solidFill>
                <a:latin typeface="Times New Roman"/>
                <a:ea typeface="Times New Roman"/>
                <a:cs typeface="Times New Roman"/>
                <a:sym typeface="Times New Roman"/>
              </a:rPr>
              <a:t>2.</a:t>
            </a:r>
            <a:r>
              <a:rPr lang="en-US" sz="2000" b="1" i="0" u="none" strike="noStrike" cap="none" dirty="0">
                <a:solidFill>
                  <a:srgbClr val="2B3541"/>
                </a:solidFill>
                <a:latin typeface="Times New Roman"/>
                <a:ea typeface="Times New Roman"/>
                <a:cs typeface="Times New Roman"/>
                <a:sym typeface="Times New Roman"/>
              </a:rPr>
              <a:t>Multilingual Voice &amp; SMS Alerts</a:t>
            </a:r>
            <a:r>
              <a:rPr lang="en-US" sz="2000" b="0" i="0" u="none" strike="noStrike" cap="none" dirty="0">
                <a:solidFill>
                  <a:srgbClr val="2B3541"/>
                </a:solidFill>
                <a:latin typeface="Times New Roman"/>
                <a:ea typeface="Times New Roman"/>
                <a:cs typeface="Times New Roman"/>
                <a:sym typeface="Times New Roman"/>
              </a:rPr>
              <a:t> – </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Adding regional-language voice and SMS-based alerts will improve accessibility for fishermen and coastal communities without smartphones or reliable internet access, especially during power and network outages.</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819563" y="692975"/>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2" name="Picture 1"/>
          <p:cNvPicPr>
            <a:picLocks noChangeAspect="1"/>
          </p:cNvPicPr>
          <p:nvPr/>
        </p:nvPicPr>
        <p:blipFill>
          <a:blip r:embed="rId2"/>
          <a:stretch>
            <a:fillRect/>
          </a:stretch>
        </p:blipFill>
        <p:spPr>
          <a:xfrm>
            <a:off x="938694" y="1352682"/>
            <a:ext cx="6641978" cy="4991724"/>
          </a:xfrm>
          <a:prstGeom prst="rect">
            <a:avLst/>
          </a:prstGeom>
        </p:spPr>
      </p:pic>
    </p:spTree>
    <p:extLst>
      <p:ext uri="{BB962C8B-B14F-4D97-AF65-F5344CB8AC3E}">
        <p14:creationId xmlns:p14="http://schemas.microsoft.com/office/powerpoint/2010/main" val="12290476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819563" y="692975"/>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3" name="Picture 2"/>
          <p:cNvPicPr>
            <a:picLocks noChangeAspect="1"/>
          </p:cNvPicPr>
          <p:nvPr/>
        </p:nvPicPr>
        <p:blipFill>
          <a:blip r:embed="rId2"/>
          <a:stretch>
            <a:fillRect/>
          </a:stretch>
        </p:blipFill>
        <p:spPr>
          <a:xfrm>
            <a:off x="819563" y="1462416"/>
            <a:ext cx="7474334" cy="4578585"/>
          </a:xfrm>
          <a:prstGeom prst="rect">
            <a:avLst/>
          </a:prstGeom>
        </p:spPr>
      </p:pic>
    </p:spTree>
    <p:extLst>
      <p:ext uri="{BB962C8B-B14F-4D97-AF65-F5344CB8AC3E}">
        <p14:creationId xmlns:p14="http://schemas.microsoft.com/office/powerpoint/2010/main" val="4463592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707923" y="2013322"/>
            <a:ext cx="12192000" cy="2477396"/>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87</TotalTime>
  <Words>1103</Words>
  <Application>Microsoft Office PowerPoint</Application>
  <PresentationFormat>Widescreen</PresentationFormat>
  <Paragraphs>109</Paragraphs>
  <Slides>15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Times New Roman</vt:lpstr>
      <vt:lpstr>Trebuchet MS</vt:lpstr>
      <vt:lpstr>Wingdings 3</vt:lpstr>
      <vt:lpstr>Facet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27</cp:revision>
  <dcterms:created xsi:type="dcterms:W3CDTF">2025-07-08T05:06:56Z</dcterms:created>
  <dcterms:modified xsi:type="dcterms:W3CDTF">2026-08-15T12:51:26Z</dcterms:modified>
</cp:coreProperties>
</file>